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Cooper BT Light" charset="1" panose="0208050304030B020404"/>
      <p:regular r:id="rId19"/>
    </p:embeddedFont>
    <p:embeddedFont>
      <p:font typeface="Canva Sans" charset="1" panose="020B0503030501040103"/>
      <p:regular r:id="rId20"/>
    </p:embeddedFont>
    <p:embeddedFont>
      <p:font typeface="Canva Sans Bold" charset="1" panose="020B0803030501040103"/>
      <p:regular r:id="rId21"/>
    </p:embeddedFont>
    <p:embeddedFont>
      <p:font typeface="Arimo Bold" charset="1" panose="020B0704020202020204"/>
      <p:regular r:id="rId22"/>
    </p:embeddedFont>
    <p:embeddedFont>
      <p:font typeface="DM Sans" charset="1" panose="00000000000000000000"/>
      <p:regular r:id="rId23"/>
    </p:embeddedFont>
    <p:embeddedFont>
      <p:font typeface="DM Serif Display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VAG8Gx6e1U0.mp4" Type="http://schemas.openxmlformats.org/officeDocument/2006/relationships/video"/><Relationship Id="rId7" Target="../media/VAG8Gx6e1U0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Relationship Id="rId4" Target="../media/VAG8HzUZkrE.mp4" Type="http://schemas.openxmlformats.org/officeDocument/2006/relationships/video"/><Relationship Id="rId5" Target="../media/VAG8HzUZkrE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jpeg" Type="http://schemas.openxmlformats.org/officeDocument/2006/relationships/image"/><Relationship Id="rId4" Target="../media/image20.pn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600378" y="4414362"/>
            <a:ext cx="3132445" cy="4266359"/>
          </a:xfrm>
          <a:custGeom>
            <a:avLst/>
            <a:gdLst/>
            <a:ahLst/>
            <a:cxnLst/>
            <a:rect r="r" b="b" t="t" l="l"/>
            <a:pathLst>
              <a:path h="4266359" w="3132445">
                <a:moveTo>
                  <a:pt x="0" y="0"/>
                </a:moveTo>
                <a:lnTo>
                  <a:pt x="3132445" y="0"/>
                </a:lnTo>
                <a:lnTo>
                  <a:pt x="3132445" y="4266359"/>
                </a:lnTo>
                <a:lnTo>
                  <a:pt x="0" y="4266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287219" y="8964879"/>
            <a:ext cx="13719951" cy="1255175"/>
            <a:chOff x="0" y="0"/>
            <a:chExt cx="13008546" cy="11900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08511" cy="1190117"/>
            </a:xfrm>
            <a:custGeom>
              <a:avLst/>
              <a:gdLst/>
              <a:ahLst/>
              <a:cxnLst/>
              <a:rect r="r" b="b" t="t" l="l"/>
              <a:pathLst>
                <a:path h="1190117" w="13008511">
                  <a:moveTo>
                    <a:pt x="13005054" y="0"/>
                  </a:moveTo>
                  <a:lnTo>
                    <a:pt x="10570845" y="0"/>
                  </a:lnTo>
                  <a:cubicBezTo>
                    <a:pt x="10173208" y="762"/>
                    <a:pt x="10083926" y="410718"/>
                    <a:pt x="9645523" y="448437"/>
                  </a:cubicBezTo>
                  <a:lnTo>
                    <a:pt x="0" y="448437"/>
                  </a:lnTo>
                  <a:lnTo>
                    <a:pt x="0" y="1190117"/>
                  </a:lnTo>
                  <a:lnTo>
                    <a:pt x="13008356" y="1190117"/>
                  </a:lnTo>
                  <a:cubicBezTo>
                    <a:pt x="13009499" y="783209"/>
                    <a:pt x="13003912" y="406908"/>
                    <a:pt x="13005054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1708" y="-14292"/>
            <a:ext cx="13745803" cy="1522422"/>
            <a:chOff x="0" y="0"/>
            <a:chExt cx="18327737" cy="202989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1643" y="0"/>
              <a:ext cx="18326094" cy="1460504"/>
              <a:chOff x="0" y="0"/>
              <a:chExt cx="13031889" cy="10385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13589" y="13589"/>
                <a:ext cx="13004801" cy="1011428"/>
              </a:xfrm>
              <a:custGeom>
                <a:avLst/>
                <a:gdLst/>
                <a:ahLst/>
                <a:cxnLst/>
                <a:rect r="r" b="b" t="t" l="l"/>
                <a:pathLst>
                  <a:path h="1011428" w="13004801">
                    <a:moveTo>
                      <a:pt x="0" y="0"/>
                    </a:moveTo>
                    <a:lnTo>
                      <a:pt x="13004801" y="0"/>
                    </a:lnTo>
                    <a:lnTo>
                      <a:pt x="13004801" y="1011428"/>
                    </a:lnTo>
                    <a:lnTo>
                      <a:pt x="0" y="1011428"/>
                    </a:lnTo>
                    <a:close/>
                  </a:path>
                </a:pathLst>
              </a:custGeom>
              <a:solidFill>
                <a:srgbClr val="004EA2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031978" cy="1038606"/>
              </a:xfrm>
              <a:custGeom>
                <a:avLst/>
                <a:gdLst/>
                <a:ahLst/>
                <a:cxnLst/>
                <a:rect r="r" b="b" t="t" l="l"/>
                <a:pathLst>
                  <a:path h="1038606" w="13031978">
                    <a:moveTo>
                      <a:pt x="13589" y="0"/>
                    </a:moveTo>
                    <a:lnTo>
                      <a:pt x="13018390" y="0"/>
                    </a:lnTo>
                    <a:cubicBezTo>
                      <a:pt x="13025882" y="0"/>
                      <a:pt x="13031978" y="6096"/>
                      <a:pt x="13031978" y="13589"/>
                    </a:cubicBezTo>
                    <a:lnTo>
                      <a:pt x="13031978" y="1025017"/>
                    </a:lnTo>
                    <a:cubicBezTo>
                      <a:pt x="13031978" y="1032510"/>
                      <a:pt x="13025882" y="1038606"/>
                      <a:pt x="13018390" y="1038606"/>
                    </a:cubicBezTo>
                    <a:lnTo>
                      <a:pt x="13589" y="1038606"/>
                    </a:lnTo>
                    <a:cubicBezTo>
                      <a:pt x="6096" y="1038606"/>
                      <a:pt x="0" y="1032510"/>
                      <a:pt x="0" y="1025017"/>
                    </a:cubicBezTo>
                    <a:lnTo>
                      <a:pt x="0" y="13589"/>
                    </a:lnTo>
                    <a:cubicBezTo>
                      <a:pt x="0" y="6096"/>
                      <a:pt x="6096" y="0"/>
                      <a:pt x="13589" y="0"/>
                    </a:cubicBezTo>
                    <a:moveTo>
                      <a:pt x="13589" y="27051"/>
                    </a:moveTo>
                    <a:lnTo>
                      <a:pt x="13589" y="13589"/>
                    </a:lnTo>
                    <a:lnTo>
                      <a:pt x="27051" y="13589"/>
                    </a:lnTo>
                    <a:lnTo>
                      <a:pt x="27051" y="1025017"/>
                    </a:lnTo>
                    <a:lnTo>
                      <a:pt x="13589" y="1025017"/>
                    </a:lnTo>
                    <a:lnTo>
                      <a:pt x="13589" y="1011428"/>
                    </a:lnTo>
                    <a:lnTo>
                      <a:pt x="13018390" y="1011428"/>
                    </a:lnTo>
                    <a:lnTo>
                      <a:pt x="13018390" y="1025017"/>
                    </a:lnTo>
                    <a:lnTo>
                      <a:pt x="13004800" y="1025017"/>
                    </a:lnTo>
                    <a:lnTo>
                      <a:pt x="13004800" y="13589"/>
                    </a:lnTo>
                    <a:lnTo>
                      <a:pt x="13018390" y="13589"/>
                    </a:lnTo>
                    <a:lnTo>
                      <a:pt x="13018390" y="27051"/>
                    </a:lnTo>
                    <a:lnTo>
                      <a:pt x="13589" y="27051"/>
                    </a:lnTo>
                    <a:close/>
                  </a:path>
                </a:pathLst>
              </a:custGeom>
              <a:solidFill>
                <a:srgbClr val="385D8A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225117"/>
              <a:ext cx="18326094" cy="804779"/>
              <a:chOff x="0" y="0"/>
              <a:chExt cx="13031889" cy="57228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3589" y="13589"/>
                <a:ext cx="13004801" cy="545211"/>
              </a:xfrm>
              <a:custGeom>
                <a:avLst/>
                <a:gdLst/>
                <a:ahLst/>
                <a:cxnLst/>
                <a:rect r="r" b="b" t="t" l="l"/>
                <a:pathLst>
                  <a:path h="545211" w="13004801">
                    <a:moveTo>
                      <a:pt x="0" y="0"/>
                    </a:moveTo>
                    <a:lnTo>
                      <a:pt x="13004801" y="0"/>
                    </a:lnTo>
                    <a:lnTo>
                      <a:pt x="13004801" y="545211"/>
                    </a:lnTo>
                    <a:lnTo>
                      <a:pt x="0" y="545211"/>
                    </a:lnTo>
                    <a:close/>
                  </a:path>
                </a:pathLst>
              </a:custGeom>
              <a:solidFill>
                <a:srgbClr val="20A15E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031978" cy="572389"/>
              </a:xfrm>
              <a:custGeom>
                <a:avLst/>
                <a:gdLst/>
                <a:ahLst/>
                <a:cxnLst/>
                <a:rect r="r" b="b" t="t" l="l"/>
                <a:pathLst>
                  <a:path h="572389" w="13031978">
                    <a:moveTo>
                      <a:pt x="13589" y="0"/>
                    </a:moveTo>
                    <a:lnTo>
                      <a:pt x="13018390" y="0"/>
                    </a:lnTo>
                    <a:cubicBezTo>
                      <a:pt x="13025882" y="0"/>
                      <a:pt x="13031978" y="6096"/>
                      <a:pt x="13031978" y="13589"/>
                    </a:cubicBezTo>
                    <a:lnTo>
                      <a:pt x="13031978" y="558800"/>
                    </a:lnTo>
                    <a:cubicBezTo>
                      <a:pt x="13031978" y="566293"/>
                      <a:pt x="13025882" y="572389"/>
                      <a:pt x="13018390" y="572389"/>
                    </a:cubicBezTo>
                    <a:lnTo>
                      <a:pt x="13589" y="572389"/>
                    </a:lnTo>
                    <a:cubicBezTo>
                      <a:pt x="6096" y="572262"/>
                      <a:pt x="0" y="566166"/>
                      <a:pt x="0" y="558800"/>
                    </a:cubicBezTo>
                    <a:lnTo>
                      <a:pt x="0" y="13589"/>
                    </a:lnTo>
                    <a:cubicBezTo>
                      <a:pt x="0" y="6096"/>
                      <a:pt x="6096" y="0"/>
                      <a:pt x="13589" y="0"/>
                    </a:cubicBezTo>
                    <a:moveTo>
                      <a:pt x="13589" y="27051"/>
                    </a:moveTo>
                    <a:lnTo>
                      <a:pt x="13589" y="13589"/>
                    </a:lnTo>
                    <a:lnTo>
                      <a:pt x="27051" y="13589"/>
                    </a:lnTo>
                    <a:lnTo>
                      <a:pt x="27051" y="558800"/>
                    </a:lnTo>
                    <a:lnTo>
                      <a:pt x="13589" y="558800"/>
                    </a:lnTo>
                    <a:lnTo>
                      <a:pt x="13589" y="545211"/>
                    </a:lnTo>
                    <a:lnTo>
                      <a:pt x="13018390" y="545211"/>
                    </a:lnTo>
                    <a:lnTo>
                      <a:pt x="13018390" y="558800"/>
                    </a:lnTo>
                    <a:lnTo>
                      <a:pt x="13004800" y="558800"/>
                    </a:lnTo>
                    <a:lnTo>
                      <a:pt x="13004800" y="13589"/>
                    </a:lnTo>
                    <a:lnTo>
                      <a:pt x="13018390" y="13589"/>
                    </a:lnTo>
                    <a:lnTo>
                      <a:pt x="13018390" y="27051"/>
                    </a:lnTo>
                    <a:lnTo>
                      <a:pt x="13589" y="27051"/>
                    </a:lnTo>
                    <a:close/>
                  </a:path>
                </a:pathLst>
              </a:custGeom>
              <a:solidFill>
                <a:srgbClr val="20A15E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Freeform 17" id="17" descr="기본형"/>
            <p:cNvSpPr/>
            <p:nvPr/>
          </p:nvSpPr>
          <p:spPr>
            <a:xfrm flipH="false" flipV="false" rot="0">
              <a:off x="236119" y="286697"/>
              <a:ext cx="2161306" cy="1527816"/>
            </a:xfrm>
            <a:custGeom>
              <a:avLst/>
              <a:gdLst/>
              <a:ahLst/>
              <a:cxnLst/>
              <a:rect r="r" b="b" t="t" l="l"/>
              <a:pathLst>
                <a:path h="1527816" w="2161306">
                  <a:moveTo>
                    <a:pt x="0" y="0"/>
                  </a:moveTo>
                  <a:lnTo>
                    <a:pt x="2161306" y="0"/>
                  </a:lnTo>
                  <a:lnTo>
                    <a:pt x="2161306" y="1527815"/>
                  </a:lnTo>
                  <a:lnTo>
                    <a:pt x="0" y="1527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464" t="-55665" r="-64715" b="-5393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4222" y="6755548"/>
            <a:ext cx="4312061" cy="978832"/>
            <a:chOff x="0" y="0"/>
            <a:chExt cx="5749415" cy="130511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305110" y="124513"/>
              <a:ext cx="4444305" cy="1037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94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부산대학교 정보의생명공학대학</a:t>
              </a:r>
            </a:p>
            <a:p>
              <a:pPr algn="ctr">
                <a:lnSpc>
                  <a:spcPts val="3768"/>
                </a:lnSpc>
              </a:pPr>
              <a:r>
                <a:rPr lang="en-US" sz="3140">
                  <a:solidFill>
                    <a:srgbClr val="1F497D"/>
                  </a:solidFill>
                  <a:latin typeface="Arimo"/>
                  <a:ea typeface="Arimo"/>
                  <a:cs typeface="Arimo"/>
                  <a:sym typeface="Arimo"/>
                </a:rPr>
                <a:t>정보컴퓨터공학부</a:t>
              </a:r>
            </a:p>
          </p:txBody>
        </p:sp>
        <p:pic>
          <p:nvPicPr>
            <p:cNvPr name="Picture 20" id="20" descr="정장형 심볼01">
              <a:hlinkClick action="ppaction://media"/>
            </p:cNvPr>
            <p:cNvPicPr>
              <a:picLocks noChangeAspect="true"/>
            </p:cNvPicPr>
            <p:nvPr>
              <a:videoFile r:link="rId6"/>
              <p:extLst>
                <p:ext uri="{DAA4B4D4-6D71-4841-9C94-3DE7FCFB9230}">
                  <p14:media xmlns:p14="http://schemas.microsoft.com/office/powerpoint/2010/main" r:embed="rId7"/>
                </p:ext>
              </p:extLst>
            </p:nvPr>
          </p:nvPicPr>
          <p:blipFill>
            <a:blip r:embed="rId5"/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1305110" cy="1305110"/>
            </a:xfrm>
            <a:prstGeom prst="rect">
              <a:avLst/>
            </a:prstGeom>
          </p:spPr>
        </p:pic>
      </p:grpSp>
      <p:grpSp>
        <p:nvGrpSpPr>
          <p:cNvPr name="Group 21" id="21"/>
          <p:cNvGrpSpPr/>
          <p:nvPr/>
        </p:nvGrpSpPr>
        <p:grpSpPr>
          <a:xfrm rot="0">
            <a:off x="2287232" y="9044322"/>
            <a:ext cx="13714768" cy="1175745"/>
            <a:chOff x="0" y="0"/>
            <a:chExt cx="13003632" cy="11147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03657" cy="1114806"/>
            </a:xfrm>
            <a:custGeom>
              <a:avLst/>
              <a:gdLst/>
              <a:ahLst/>
              <a:cxnLst/>
              <a:rect r="r" b="b" t="t" l="l"/>
              <a:pathLst>
                <a:path h="1114806" w="13003657">
                  <a:moveTo>
                    <a:pt x="13003657" y="0"/>
                  </a:moveTo>
                  <a:lnTo>
                    <a:pt x="10580370" y="0"/>
                  </a:lnTo>
                  <a:cubicBezTo>
                    <a:pt x="10192258" y="635"/>
                    <a:pt x="10086339" y="425831"/>
                    <a:pt x="9654159" y="435483"/>
                  </a:cubicBezTo>
                  <a:lnTo>
                    <a:pt x="0" y="435483"/>
                  </a:lnTo>
                  <a:lnTo>
                    <a:pt x="0" y="1114806"/>
                  </a:lnTo>
                  <a:lnTo>
                    <a:pt x="13003657" y="1114806"/>
                  </a:lnTo>
                  <a:lnTo>
                    <a:pt x="1300365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BEBEBE">
                    <a:alpha val="1000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Freeform 23" id="23" descr="C:\Users\Donggeon Lee\Desktop\IoT\pnu.png"/>
          <p:cNvSpPr/>
          <p:nvPr/>
        </p:nvSpPr>
        <p:spPr>
          <a:xfrm flipH="false" flipV="false" rot="0">
            <a:off x="13264573" y="9335439"/>
            <a:ext cx="2468250" cy="622993"/>
          </a:xfrm>
          <a:custGeom>
            <a:avLst/>
            <a:gdLst/>
            <a:ahLst/>
            <a:cxnLst/>
            <a:rect r="r" b="b" t="t" l="l"/>
            <a:pathLst>
              <a:path h="622993" w="2468250">
                <a:moveTo>
                  <a:pt x="0" y="0"/>
                </a:moveTo>
                <a:lnTo>
                  <a:pt x="2468251" y="0"/>
                </a:lnTo>
                <a:lnTo>
                  <a:pt x="2468251" y="622993"/>
                </a:lnTo>
                <a:lnTo>
                  <a:pt x="0" y="622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547327" y="9746797"/>
            <a:ext cx="2786880" cy="3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334" spc="-151">
                <a:solidFill>
                  <a:srgbClr val="20A15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Adventure Design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00663" y="4024194"/>
            <a:ext cx="2219179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by: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81400" y="2071986"/>
            <a:ext cx="405770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12"/>
              </a:lnSpc>
              <a:spcBef>
                <a:spcPct val="0"/>
              </a:spcBef>
            </a:pPr>
            <a:r>
              <a:rPr lang="en-US" b="true" sz="8437">
                <a:solidFill>
                  <a:srgbClr val="20A1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SafeAid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08088" y="4753332"/>
            <a:ext cx="9204330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Saeed Maya Saeed Ibrahim, Khin Moe Moe Latt, Thon Than Thar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Development Background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844010" y="966351"/>
            <a:ext cx="3463539" cy="5071610"/>
          </a:xfrm>
          <a:custGeom>
            <a:avLst/>
            <a:gdLst/>
            <a:ahLst/>
            <a:cxnLst/>
            <a:rect r="r" b="b" t="t" l="l"/>
            <a:pathLst>
              <a:path h="5071610" w="3463539">
                <a:moveTo>
                  <a:pt x="0" y="0"/>
                </a:moveTo>
                <a:lnTo>
                  <a:pt x="3463539" y="0"/>
                </a:lnTo>
                <a:lnTo>
                  <a:pt x="3463539" y="5071610"/>
                </a:lnTo>
                <a:lnTo>
                  <a:pt x="0" y="507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63044" y="1028700"/>
            <a:ext cx="5383709" cy="5383709"/>
          </a:xfrm>
          <a:custGeom>
            <a:avLst/>
            <a:gdLst/>
            <a:ahLst/>
            <a:cxnLst/>
            <a:rect r="r" b="b" t="t" l="l"/>
            <a:pathLst>
              <a:path h="5383709" w="5383709">
                <a:moveTo>
                  <a:pt x="0" y="0"/>
                </a:moveTo>
                <a:lnTo>
                  <a:pt x="5383710" y="0"/>
                </a:lnTo>
                <a:lnTo>
                  <a:pt x="5383710" y="5383709"/>
                </a:lnTo>
                <a:lnTo>
                  <a:pt x="0" y="5383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54899" y="6185301"/>
            <a:ext cx="6560342" cy="3856686"/>
          </a:xfrm>
          <a:custGeom>
            <a:avLst/>
            <a:gdLst/>
            <a:ahLst/>
            <a:cxnLst/>
            <a:rect r="r" b="b" t="t" l="l"/>
            <a:pathLst>
              <a:path h="3856686" w="6560342">
                <a:moveTo>
                  <a:pt x="0" y="0"/>
                </a:moveTo>
                <a:lnTo>
                  <a:pt x="6560342" y="0"/>
                </a:lnTo>
                <a:lnTo>
                  <a:pt x="6560342" y="3856686"/>
                </a:lnTo>
                <a:lnTo>
                  <a:pt x="0" y="3856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16319" y="6383834"/>
            <a:ext cx="4659460" cy="57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b="true" sz="17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Percentage of patients arrived  by emergency medical services by 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Development Background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55270" y="1126779"/>
            <a:ext cx="12961432" cy="771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18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Emergency Risk Among People Aged 60 and Above: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People over the age of 60 have a significantly higher risk of medical emergencies, such as sudden falls and heart-related problems.</a:t>
            </a:r>
          </a:p>
          <a:p>
            <a:pPr algn="l" marL="362915" indent="-181457" lvl="1">
              <a:lnSpc>
                <a:spcPts val="2857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Statistics show that the percentage of emergency incidents increases rapidly after the age of 60, making continuous monitoring essential.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emergencies occur unexpectedly and without warning.</a:t>
            </a:r>
          </a:p>
          <a:p>
            <a:pPr algn="l">
              <a:lnSpc>
                <a:spcPts val="3084"/>
              </a:lnSpc>
            </a:pPr>
            <a:r>
              <a:rPr lang="en-US" sz="18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Falls as a Major Cause of Serious Injury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Falls are one of the most common emergencies among elderly people.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fall can lead to fractures, head injuries, or long-term disability.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many cases, the injured person is unable to move or call for help after falling.</a:t>
            </a:r>
          </a:p>
          <a:p>
            <a:pPr algn="l">
              <a:lnSpc>
                <a:spcPts val="3084"/>
              </a:lnSpc>
            </a:pPr>
            <a:r>
              <a:rPr lang="en-US" sz="18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Delayed Emergency Response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an emergency is not detected immediately, the response time increases.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Delayed medical assistance can result in worsened health outcomes or death.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Immediate detection and alerting are critical to reducing damage.</a:t>
            </a:r>
          </a:p>
          <a:p>
            <a:pPr algn="l">
              <a:lnSpc>
                <a:spcPts val="3084"/>
              </a:lnSpc>
            </a:pPr>
            <a:r>
              <a:rPr lang="en-US" sz="18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Need for Automatic Emergency Detection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emergency situations, elderly individuals may be unconscious, confused, or physically unable to press a button or ask for help.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automatic system that detects emergencies without user interaction is essential.</a:t>
            </a:r>
          </a:p>
          <a:p>
            <a:pPr algn="l" marL="391715" indent="-195858" lvl="1">
              <a:lnSpc>
                <a:spcPts val="3084"/>
              </a:lnSpc>
              <a:buFont typeface="Arial"/>
              <a:buChar char="•"/>
            </a:pPr>
            <a:r>
              <a:rPr lang="en-US" sz="18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Such a system improves safety and provides reassurance to both users and their families.</a:t>
            </a:r>
          </a:p>
          <a:p>
            <a:pPr algn="l">
              <a:lnSpc>
                <a:spcPts val="375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Development Objectives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55270" y="1142595"/>
            <a:ext cx="11625351" cy="84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0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Ensure Rapid Emergency Detection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develop a system that can automatically detect emergency situations, such as falls and abnormal heart rates.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minimize the time between an emergency event and its detection.</a:t>
            </a:r>
          </a:p>
          <a:p>
            <a:pPr algn="l">
              <a:lnSpc>
                <a:spcPts val="3229"/>
              </a:lnSpc>
            </a:pPr>
            <a:r>
              <a:rPr lang="en-US" sz="20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 Safety for Elderly Users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enhance the personal safety of people aged 60 and above, who are at higher risk of medical emergencies.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provide continuous monitoring without interfering with daily activities.</a:t>
            </a:r>
          </a:p>
          <a:p>
            <a:pPr algn="l">
              <a:lnSpc>
                <a:spcPts val="3229"/>
              </a:lnSpc>
            </a:pPr>
            <a:r>
              <a:rPr lang="en-US" sz="20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 Immediate Emergency Alerts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design a system that automatically sends emergency alerts when an abnormal condition is detected.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ensure that help can be requested even when the user is unable to respond manually</a:t>
            </a:r>
          </a:p>
          <a:p>
            <a:pPr algn="l">
              <a:lnSpc>
                <a:spcPts val="3229"/>
              </a:lnSpc>
            </a:pPr>
            <a:r>
              <a:rPr lang="en-US" sz="20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Provide Real-Time Health Monitoring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continuously monitor vital signs, especially heart rate, in real time.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detect abnormal patterns that may indicate health risks.</a:t>
            </a:r>
          </a:p>
          <a:p>
            <a:pPr algn="l">
              <a:lnSpc>
                <a:spcPts val="3229"/>
              </a:lnSpc>
            </a:pPr>
            <a:r>
              <a:rPr lang="en-US" sz="20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 a Low-Cost and Efficient System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build a system using affordable hardware components.</a:t>
            </a:r>
          </a:p>
          <a:p>
            <a:pPr algn="l" marL="435725" indent="-217862" lvl="1">
              <a:lnSpc>
                <a:spcPts val="3229"/>
              </a:lnSpc>
              <a:buFont typeface="Arial"/>
              <a:buChar char="•"/>
            </a:pPr>
            <a:r>
              <a:rPr lang="en-US" sz="20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ensure the system is energy-efficient, reliable, and easy to use.</a:t>
            </a:r>
          </a:p>
          <a:p>
            <a:pPr algn="l">
              <a:lnSpc>
                <a:spcPts val="3229"/>
              </a:lnSpc>
            </a:pPr>
          </a:p>
          <a:p>
            <a:pPr algn="l">
              <a:lnSpc>
                <a:spcPts val="3229"/>
              </a:lnSpc>
            </a:pPr>
          </a:p>
          <a:p>
            <a:pPr algn="ctr">
              <a:lnSpc>
                <a:spcPts val="28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Team Member Contributions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37303" y="5000625"/>
            <a:ext cx="1339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555270" y="1154288"/>
            <a:ext cx="13446730" cy="781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30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Khin Moe Moe Latt:</a:t>
            </a:r>
          </a:p>
          <a:p>
            <a:pPr algn="l" marL="667940" indent="-333970" lvl="1">
              <a:lnSpc>
                <a:spcPts val="63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Soldering and assembly of Arduino sensors</a:t>
            </a:r>
          </a:p>
          <a:p>
            <a:pPr algn="l" marL="667940" indent="-333970" lvl="1">
              <a:lnSpc>
                <a:spcPts val="63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Circuit design and hardware connections</a:t>
            </a:r>
          </a:p>
          <a:p>
            <a:pPr algn="l">
              <a:lnSpc>
                <a:spcPts val="6311"/>
              </a:lnSpc>
            </a:pPr>
            <a:r>
              <a:rPr lang="en-US" sz="30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Saeed Maya Saeed Ibrahim:</a:t>
            </a:r>
          </a:p>
          <a:p>
            <a:pPr algn="l" marL="667940" indent="-333970" lvl="1">
              <a:lnSpc>
                <a:spcPts val="63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Software development and code implementation</a:t>
            </a:r>
          </a:p>
          <a:p>
            <a:pPr algn="l" marL="667940" indent="-333970" lvl="1">
              <a:lnSpc>
                <a:spcPts val="63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logic and sensor data processing</a:t>
            </a:r>
          </a:p>
          <a:p>
            <a:pPr algn="l">
              <a:lnSpc>
                <a:spcPts val="6311"/>
              </a:lnSpc>
            </a:pPr>
            <a:r>
              <a:rPr lang="en-US" sz="30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Thon Than Thar:</a:t>
            </a:r>
          </a:p>
          <a:p>
            <a:pPr algn="l" marL="667940" indent="-333970" lvl="1">
              <a:lnSpc>
                <a:spcPts val="63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KakaoTalk application setup and integration</a:t>
            </a:r>
          </a:p>
          <a:p>
            <a:pPr algn="l" marL="667940" indent="-333970" lvl="1">
              <a:lnSpc>
                <a:spcPts val="6311"/>
              </a:lnSpc>
              <a:buFont typeface="Arial"/>
              <a:buChar char="•"/>
            </a:pPr>
            <a:r>
              <a:rPr lang="en-US" sz="30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Emergency notification configuration</a:t>
            </a:r>
          </a:p>
          <a:p>
            <a:pPr algn="l">
              <a:lnSpc>
                <a:spcPts val="631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Hardware Components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842946" y="5469055"/>
            <a:ext cx="5272920" cy="2710281"/>
          </a:xfrm>
          <a:custGeom>
            <a:avLst/>
            <a:gdLst/>
            <a:ahLst/>
            <a:cxnLst/>
            <a:rect r="r" b="b" t="t" l="l"/>
            <a:pathLst>
              <a:path h="2710281" w="5272920">
                <a:moveTo>
                  <a:pt x="0" y="0"/>
                </a:moveTo>
                <a:lnTo>
                  <a:pt x="5272920" y="0"/>
                </a:lnTo>
                <a:lnTo>
                  <a:pt x="5272920" y="2710281"/>
                </a:lnTo>
                <a:lnTo>
                  <a:pt x="0" y="2710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68573" y="5469055"/>
            <a:ext cx="4818277" cy="2710281"/>
          </a:xfrm>
          <a:custGeom>
            <a:avLst/>
            <a:gdLst/>
            <a:ahLst/>
            <a:cxnLst/>
            <a:rect r="r" b="b" t="t" l="l"/>
            <a:pathLst>
              <a:path h="2710281" w="4818277">
                <a:moveTo>
                  <a:pt x="0" y="0"/>
                </a:moveTo>
                <a:lnTo>
                  <a:pt x="4818277" y="0"/>
                </a:lnTo>
                <a:lnTo>
                  <a:pt x="4818277" y="2710281"/>
                </a:lnTo>
                <a:lnTo>
                  <a:pt x="0" y="271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09647" y="1904383"/>
            <a:ext cx="12412437" cy="280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Processing &amp; Connectivity</a:t>
            </a:r>
          </a:p>
          <a:p>
            <a:pPr algn="l">
              <a:lnSpc>
                <a:spcPts val="3268"/>
              </a:lnSpc>
            </a:pPr>
          </a:p>
          <a:p>
            <a:pPr algn="just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Arduino Mega 2560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Master Controller; manages sensor data and emergency logic.</a:t>
            </a:r>
          </a:p>
          <a:p>
            <a:pPr algn="just">
              <a:lnSpc>
                <a:spcPts val="3268"/>
              </a:lnSpc>
            </a:pPr>
          </a:p>
          <a:p>
            <a:pPr algn="l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ESP8266 (NodeMCU)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Communication Gateway; handles Wi-Fi and KakaoTalk API.</a:t>
            </a:r>
          </a:p>
          <a:p>
            <a:pPr algn="l">
              <a:lnSpc>
                <a:spcPts val="3268"/>
              </a:lnSpc>
            </a:pPr>
          </a:p>
          <a:p>
            <a:pPr algn="l">
              <a:lnSpc>
                <a:spcPts val="326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Hardware Components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314700" y="5757648"/>
            <a:ext cx="3482555" cy="3482555"/>
          </a:xfrm>
          <a:custGeom>
            <a:avLst/>
            <a:gdLst/>
            <a:ahLst/>
            <a:cxnLst/>
            <a:rect r="r" b="b" t="t" l="l"/>
            <a:pathLst>
              <a:path h="3482555" w="3482555">
                <a:moveTo>
                  <a:pt x="0" y="0"/>
                </a:moveTo>
                <a:lnTo>
                  <a:pt x="3482555" y="0"/>
                </a:lnTo>
                <a:lnTo>
                  <a:pt x="3482555" y="3482555"/>
                </a:lnTo>
                <a:lnTo>
                  <a:pt x="0" y="348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38607" y="5958566"/>
            <a:ext cx="3210785" cy="3210785"/>
          </a:xfrm>
          <a:custGeom>
            <a:avLst/>
            <a:gdLst/>
            <a:ahLst/>
            <a:cxnLst/>
            <a:rect r="r" b="b" t="t" l="l"/>
            <a:pathLst>
              <a:path h="3210785" w="3210785">
                <a:moveTo>
                  <a:pt x="0" y="0"/>
                </a:moveTo>
                <a:lnTo>
                  <a:pt x="3210786" y="0"/>
                </a:lnTo>
                <a:lnTo>
                  <a:pt x="3210786" y="3210785"/>
                </a:lnTo>
                <a:lnTo>
                  <a:pt x="0" y="321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85856" y="6569972"/>
            <a:ext cx="1987973" cy="1987973"/>
          </a:xfrm>
          <a:custGeom>
            <a:avLst/>
            <a:gdLst/>
            <a:ahLst/>
            <a:cxnLst/>
            <a:rect r="r" b="b" t="t" l="l"/>
            <a:pathLst>
              <a:path h="1987973" w="1987973">
                <a:moveTo>
                  <a:pt x="0" y="0"/>
                </a:moveTo>
                <a:lnTo>
                  <a:pt x="1987973" y="0"/>
                </a:lnTo>
                <a:lnTo>
                  <a:pt x="1987973" y="1987973"/>
                </a:lnTo>
                <a:lnTo>
                  <a:pt x="0" y="19879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24263" y="1750957"/>
            <a:ext cx="12349037" cy="400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Sensing Suite</a:t>
            </a:r>
          </a:p>
          <a:p>
            <a:pPr algn="l">
              <a:lnSpc>
                <a:spcPts val="3268"/>
              </a:lnSpc>
            </a:pPr>
          </a:p>
          <a:p>
            <a:pPr algn="l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ADXL345 Accelerometer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Detects physical movement, free-fall, and impact.</a:t>
            </a:r>
          </a:p>
          <a:p>
            <a:pPr algn="l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MAX30102 Heart Rate Sensor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Optical IR sensor for real-time BPM monitoring.</a:t>
            </a:r>
          </a:p>
          <a:p>
            <a:pPr algn="l">
              <a:lnSpc>
                <a:spcPts val="3268"/>
              </a:lnSpc>
            </a:pPr>
          </a:p>
          <a:p>
            <a:pPr algn="l">
              <a:lnSpc>
                <a:spcPts val="3268"/>
              </a:lnSpc>
            </a:pPr>
          </a:p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User Interface</a:t>
            </a:r>
          </a:p>
          <a:p>
            <a:pPr algn="l">
              <a:lnSpc>
                <a:spcPts val="3268"/>
              </a:lnSpc>
            </a:pPr>
          </a:p>
          <a:p>
            <a:pPr algn="l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SOS Push Button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Manual override for instant emergency triggering.</a:t>
            </a:r>
          </a:p>
          <a:p>
            <a:pPr algn="l">
              <a:lnSpc>
                <a:spcPts val="326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Hardware Components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79320" y="2676501"/>
            <a:ext cx="2804929" cy="941917"/>
            <a:chOff x="0" y="0"/>
            <a:chExt cx="738747" cy="2480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8747" cy="248077"/>
            </a:xfrm>
            <a:custGeom>
              <a:avLst/>
              <a:gdLst/>
              <a:ahLst/>
              <a:cxnLst/>
              <a:rect r="r" b="b" t="t" l="l"/>
              <a:pathLst>
                <a:path h="248077" w="738747">
                  <a:moveTo>
                    <a:pt x="0" y="0"/>
                  </a:moveTo>
                  <a:lnTo>
                    <a:pt x="738747" y="0"/>
                  </a:lnTo>
                  <a:lnTo>
                    <a:pt x="738747" y="248077"/>
                  </a:lnTo>
                  <a:lnTo>
                    <a:pt x="0" y="248077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38747" cy="27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ADXL 345</a:t>
              </a:r>
            </a:p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Accelerometer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79320" y="3902154"/>
            <a:ext cx="2804929" cy="934595"/>
            <a:chOff x="0" y="0"/>
            <a:chExt cx="738747" cy="246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8747" cy="246149"/>
            </a:xfrm>
            <a:custGeom>
              <a:avLst/>
              <a:gdLst/>
              <a:ahLst/>
              <a:cxnLst/>
              <a:rect r="r" b="b" t="t" l="l"/>
              <a:pathLst>
                <a:path h="246149" w="738747">
                  <a:moveTo>
                    <a:pt x="0" y="0"/>
                  </a:moveTo>
                  <a:lnTo>
                    <a:pt x="738747" y="0"/>
                  </a:lnTo>
                  <a:lnTo>
                    <a:pt x="738747" y="246149"/>
                  </a:lnTo>
                  <a:lnTo>
                    <a:pt x="0" y="246149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38747" cy="274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MAX 30102</a:t>
              </a:r>
            </a:p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Heart Rate Sensor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79320" y="5442578"/>
            <a:ext cx="2804929" cy="934946"/>
            <a:chOff x="0" y="0"/>
            <a:chExt cx="738747" cy="2462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8747" cy="246241"/>
            </a:xfrm>
            <a:custGeom>
              <a:avLst/>
              <a:gdLst/>
              <a:ahLst/>
              <a:cxnLst/>
              <a:rect r="r" b="b" t="t" l="l"/>
              <a:pathLst>
                <a:path h="246241" w="738747">
                  <a:moveTo>
                    <a:pt x="0" y="0"/>
                  </a:moveTo>
                  <a:lnTo>
                    <a:pt x="738747" y="0"/>
                  </a:lnTo>
                  <a:lnTo>
                    <a:pt x="738747" y="246241"/>
                  </a:lnTo>
                  <a:lnTo>
                    <a:pt x="0" y="246241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38747" cy="274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Momentary Button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46753" y="3793985"/>
            <a:ext cx="2830743" cy="1110750"/>
            <a:chOff x="0" y="0"/>
            <a:chExt cx="745546" cy="2925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5546" cy="292543"/>
            </a:xfrm>
            <a:custGeom>
              <a:avLst/>
              <a:gdLst/>
              <a:ahLst/>
              <a:cxnLst/>
              <a:rect r="r" b="b" t="t" l="l"/>
              <a:pathLst>
                <a:path h="292543" w="745546">
                  <a:moveTo>
                    <a:pt x="0" y="0"/>
                  </a:moveTo>
                  <a:lnTo>
                    <a:pt x="745546" y="0"/>
                  </a:lnTo>
                  <a:lnTo>
                    <a:pt x="745546" y="292543"/>
                  </a:lnTo>
                  <a:lnTo>
                    <a:pt x="0" y="292543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745546" cy="32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Arduino Mega 2560 </a:t>
              </a:r>
            </a:p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(Master Controller)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73700" y="3814077"/>
            <a:ext cx="2830743" cy="1110750"/>
            <a:chOff x="0" y="0"/>
            <a:chExt cx="745546" cy="29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5546" cy="292543"/>
            </a:xfrm>
            <a:custGeom>
              <a:avLst/>
              <a:gdLst/>
              <a:ahLst/>
              <a:cxnLst/>
              <a:rect r="r" b="b" t="t" l="l"/>
              <a:pathLst>
                <a:path h="292543" w="745546">
                  <a:moveTo>
                    <a:pt x="0" y="0"/>
                  </a:moveTo>
                  <a:lnTo>
                    <a:pt x="745546" y="0"/>
                  </a:lnTo>
                  <a:lnTo>
                    <a:pt x="745546" y="292543"/>
                  </a:lnTo>
                  <a:lnTo>
                    <a:pt x="0" y="292543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45546" cy="32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ESP 12e</a:t>
              </a:r>
            </a:p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(Wifi Module/ Communication Gateway)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4101876" y="3894523"/>
            <a:ext cx="1287879" cy="1030303"/>
          </a:xfrm>
          <a:custGeom>
            <a:avLst/>
            <a:gdLst/>
            <a:ahLst/>
            <a:cxnLst/>
            <a:rect r="r" b="b" t="t" l="l"/>
            <a:pathLst>
              <a:path h="1030303" w="1287879">
                <a:moveTo>
                  <a:pt x="0" y="0"/>
                </a:moveTo>
                <a:lnTo>
                  <a:pt x="1287880" y="0"/>
                </a:lnTo>
                <a:lnTo>
                  <a:pt x="1287880" y="1030303"/>
                </a:lnTo>
                <a:lnTo>
                  <a:pt x="0" y="10303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68525" y="5989999"/>
            <a:ext cx="1690827" cy="1045238"/>
          </a:xfrm>
          <a:custGeom>
            <a:avLst/>
            <a:gdLst/>
            <a:ahLst/>
            <a:cxnLst/>
            <a:rect r="r" b="b" t="t" l="l"/>
            <a:pathLst>
              <a:path h="1045238" w="1690827">
                <a:moveTo>
                  <a:pt x="0" y="0"/>
                </a:moveTo>
                <a:lnTo>
                  <a:pt x="1690826" y="0"/>
                </a:lnTo>
                <a:lnTo>
                  <a:pt x="1690826" y="1045238"/>
                </a:lnTo>
                <a:lnTo>
                  <a:pt x="0" y="104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5384249" y="3147460"/>
            <a:ext cx="1262504" cy="9091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 flipV="true">
            <a:off x="5384249" y="4349360"/>
            <a:ext cx="1262504" cy="2009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5384249" y="4676024"/>
            <a:ext cx="1262504" cy="123402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9477496" y="4349360"/>
            <a:ext cx="896203" cy="2009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7183605" y="5924487"/>
            <a:ext cx="2830743" cy="1110750"/>
            <a:chOff x="0" y="0"/>
            <a:chExt cx="745546" cy="2925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5546" cy="292543"/>
            </a:xfrm>
            <a:custGeom>
              <a:avLst/>
              <a:gdLst/>
              <a:ahLst/>
              <a:cxnLst/>
              <a:rect r="r" b="b" t="t" l="l"/>
              <a:pathLst>
                <a:path h="292543" w="745546">
                  <a:moveTo>
                    <a:pt x="0" y="0"/>
                  </a:moveTo>
                  <a:lnTo>
                    <a:pt x="745546" y="0"/>
                  </a:lnTo>
                  <a:lnTo>
                    <a:pt x="745546" y="292543"/>
                  </a:lnTo>
                  <a:lnTo>
                    <a:pt x="0" y="292543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45546" cy="32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Serial Monitor</a:t>
              </a:r>
            </a:p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Acc: x.xx, Avg bpm: xxx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8598977" y="4836749"/>
            <a:ext cx="0" cy="108773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13204443" y="7485441"/>
            <a:ext cx="2554909" cy="674727"/>
            <a:chOff x="0" y="0"/>
            <a:chExt cx="672898" cy="1777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2898" cy="177706"/>
            </a:xfrm>
            <a:custGeom>
              <a:avLst/>
              <a:gdLst/>
              <a:ahLst/>
              <a:cxnLst/>
              <a:rect r="r" b="b" t="t" l="l"/>
              <a:pathLst>
                <a:path h="177706" w="672898">
                  <a:moveTo>
                    <a:pt x="0" y="0"/>
                  </a:moveTo>
                  <a:lnTo>
                    <a:pt x="672898" y="0"/>
                  </a:lnTo>
                  <a:lnTo>
                    <a:pt x="672898" y="177706"/>
                  </a:lnTo>
                  <a:lnTo>
                    <a:pt x="0" y="177706"/>
                  </a:lnTo>
                  <a:close/>
                </a:path>
              </a:pathLst>
            </a:custGeom>
            <a:solidFill>
              <a:srgbClr val="5393B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72898" cy="206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Kakao API Notification</a:t>
              </a:r>
            </a:p>
            <a:p>
              <a:pPr algn="ctr">
                <a:lnSpc>
                  <a:spcPts val="2165"/>
                </a:lnSpc>
              </a:pPr>
              <a:r>
                <a:rPr lang="en-US" sz="154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(User Caregiver Phone)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13205352" y="4070033"/>
            <a:ext cx="896285" cy="160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 flipV="true">
            <a:off x="13205592" y="4423067"/>
            <a:ext cx="896285" cy="160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4732421" y="5009198"/>
            <a:ext cx="0" cy="89642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V="true">
            <a:off x="13205832" y="4773993"/>
            <a:ext cx="896285" cy="160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5" id="45"/>
          <p:cNvSpPr txBox="true"/>
          <p:nvPr/>
        </p:nvSpPr>
        <p:spPr>
          <a:xfrm rot="0">
            <a:off x="5524462" y="2784188"/>
            <a:ext cx="1659143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I2C bus(SDA,SDL)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84249" y="5988632"/>
            <a:ext cx="1227902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Digital Signal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87126" y="3475544"/>
            <a:ext cx="1772892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Serial UART(TX,RX)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Demonstration Video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6829425" y="1574921"/>
            <a:ext cx="462915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555270" y="270168"/>
            <a:ext cx="13180031" cy="921327"/>
            <a:chOff x="0" y="0"/>
            <a:chExt cx="12496622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6623" cy="873552"/>
            </a:xfrm>
            <a:custGeom>
              <a:avLst/>
              <a:gdLst/>
              <a:ahLst/>
              <a:cxnLst/>
              <a:rect r="r" b="b" t="t" l="l"/>
              <a:pathLst>
                <a:path h="873552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496622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Expected Impact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70206" y="5055456"/>
            <a:ext cx="7231794" cy="5132491"/>
          </a:xfrm>
          <a:custGeom>
            <a:avLst/>
            <a:gdLst/>
            <a:ahLst/>
            <a:cxnLst/>
            <a:rect r="r" b="b" t="t" l="l"/>
            <a:pathLst>
              <a:path h="5132491" w="7231794">
                <a:moveTo>
                  <a:pt x="0" y="0"/>
                </a:moveTo>
                <a:lnTo>
                  <a:pt x="7231794" y="0"/>
                </a:lnTo>
                <a:lnTo>
                  <a:pt x="7231794" y="5132491"/>
                </a:lnTo>
                <a:lnTo>
                  <a:pt x="0" y="513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45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40186" y="2180849"/>
            <a:ext cx="3928478" cy="216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</a:p>
          <a:p>
            <a:pPr algn="l" marL="505305" indent="-252652" lvl="1">
              <a:lnSpc>
                <a:spcPts val="3276"/>
              </a:lnSpc>
              <a:buFont typeface="Arial"/>
              <a:buChar char="•"/>
            </a:pPr>
            <a:r>
              <a:rPr lang="en-US" sz="2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Fall detection</a:t>
            </a:r>
          </a:p>
          <a:p>
            <a:pPr algn="l" marL="505305" indent="-252652" lvl="1">
              <a:lnSpc>
                <a:spcPts val="3276"/>
              </a:lnSpc>
              <a:buFont typeface="Arial"/>
              <a:buChar char="•"/>
            </a:pPr>
            <a:r>
              <a:rPr lang="en-US" sz="2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Abnormal heart rate</a:t>
            </a:r>
          </a:p>
          <a:p>
            <a:pPr algn="l" marL="505305" indent="-252652" lvl="1">
              <a:lnSpc>
                <a:spcPts val="3276"/>
              </a:lnSpc>
              <a:buFont typeface="Arial"/>
              <a:buChar char="•"/>
            </a:pPr>
            <a:r>
              <a:rPr lang="en-US" sz="2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SOS button</a:t>
            </a:r>
          </a:p>
          <a:p>
            <a:pPr algn="ctr">
              <a:lnSpc>
                <a:spcPts val="445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738714" y="1998981"/>
            <a:ext cx="8008200" cy="42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Our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System automatically detects emergencies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38714" y="4388760"/>
            <a:ext cx="7008039" cy="42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stant KakaoTalk alert sent to caregivers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38714" y="5258169"/>
            <a:ext cx="6405286" cy="42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Faster response time in emergencies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38714" y="6127578"/>
            <a:ext cx="6540678" cy="82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Improves safety, independence, and peace of mind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C:\Users\Donggeon Lee\Desktop\IoT\pnu.png"/>
          <p:cNvSpPr/>
          <p:nvPr/>
        </p:nvSpPr>
        <p:spPr>
          <a:xfrm flipH="false" flipV="false" rot="0">
            <a:off x="2339243" y="9645174"/>
            <a:ext cx="1987681" cy="501692"/>
          </a:xfrm>
          <a:custGeom>
            <a:avLst/>
            <a:gdLst/>
            <a:ahLst/>
            <a:cxnLst/>
            <a:rect r="r" b="b" t="t" l="l"/>
            <a:pathLst>
              <a:path h="501692" w="1987681">
                <a:moveTo>
                  <a:pt x="0" y="0"/>
                </a:moveTo>
                <a:lnTo>
                  <a:pt x="1987682" y="0"/>
                </a:lnTo>
                <a:lnTo>
                  <a:pt x="1987682" y="501692"/>
                </a:lnTo>
                <a:lnTo>
                  <a:pt x="0" y="50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735743" y="271042"/>
            <a:ext cx="3182364" cy="921327"/>
            <a:chOff x="0" y="0"/>
            <a:chExt cx="3017353" cy="873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7354" cy="873552"/>
            </a:xfrm>
            <a:custGeom>
              <a:avLst/>
              <a:gdLst/>
              <a:ahLst/>
              <a:cxnLst/>
              <a:rect r="r" b="b" t="t" l="l"/>
              <a:pathLst>
                <a:path h="873552" w="3017354">
                  <a:moveTo>
                    <a:pt x="0" y="0"/>
                  </a:moveTo>
                  <a:lnTo>
                    <a:pt x="3017354" y="0"/>
                  </a:lnTo>
                  <a:lnTo>
                    <a:pt x="3017354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017353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6703" y="9896027"/>
            <a:ext cx="485297" cy="291920"/>
            <a:chOff x="0" y="0"/>
            <a:chExt cx="460134" cy="276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60134" cy="29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35743" y="4482727"/>
            <a:ext cx="4007860" cy="921327"/>
            <a:chOff x="0" y="0"/>
            <a:chExt cx="3800045" cy="8735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00046" cy="873552"/>
            </a:xfrm>
            <a:custGeom>
              <a:avLst/>
              <a:gdLst/>
              <a:ahLst/>
              <a:cxnLst/>
              <a:rect r="r" b="b" t="t" l="l"/>
              <a:pathLst>
                <a:path h="873552" w="3800046">
                  <a:moveTo>
                    <a:pt x="0" y="0"/>
                  </a:moveTo>
                  <a:lnTo>
                    <a:pt x="3800046" y="0"/>
                  </a:lnTo>
                  <a:lnTo>
                    <a:pt x="3800046" y="873552"/>
                  </a:lnTo>
                  <a:lnTo>
                    <a:pt x="0" y="873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800045" cy="89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Future Works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605611">
            <a:off x="13208685" y="4835227"/>
            <a:ext cx="2687970" cy="2015977"/>
          </a:xfrm>
          <a:custGeom>
            <a:avLst/>
            <a:gdLst/>
            <a:ahLst/>
            <a:cxnLst/>
            <a:rect r="r" b="b" t="t" l="l"/>
            <a:pathLst>
              <a:path h="2015977" w="2687970">
                <a:moveTo>
                  <a:pt x="0" y="0"/>
                </a:moveTo>
                <a:lnTo>
                  <a:pt x="2687969" y="0"/>
                </a:lnTo>
                <a:lnTo>
                  <a:pt x="2687969" y="2015977"/>
                </a:lnTo>
                <a:lnTo>
                  <a:pt x="0" y="2015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342128">
            <a:off x="11682985" y="4159937"/>
            <a:ext cx="2016010" cy="3024015"/>
          </a:xfrm>
          <a:custGeom>
            <a:avLst/>
            <a:gdLst/>
            <a:ahLst/>
            <a:cxnLst/>
            <a:rect r="r" b="b" t="t" l="l"/>
            <a:pathLst>
              <a:path h="3024015" w="2016010">
                <a:moveTo>
                  <a:pt x="0" y="0"/>
                </a:moveTo>
                <a:lnTo>
                  <a:pt x="2016010" y="0"/>
                </a:lnTo>
                <a:lnTo>
                  <a:pt x="2016010" y="3024015"/>
                </a:lnTo>
                <a:lnTo>
                  <a:pt x="0" y="302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80734" y="2380038"/>
            <a:ext cx="3635968" cy="1722726"/>
          </a:xfrm>
          <a:custGeom>
            <a:avLst/>
            <a:gdLst/>
            <a:ahLst/>
            <a:cxnLst/>
            <a:rect r="r" b="b" t="t" l="l"/>
            <a:pathLst>
              <a:path h="1722726" w="3635968">
                <a:moveTo>
                  <a:pt x="0" y="0"/>
                </a:moveTo>
                <a:lnTo>
                  <a:pt x="3635969" y="0"/>
                </a:lnTo>
                <a:lnTo>
                  <a:pt x="3635969" y="1722726"/>
                </a:lnTo>
                <a:lnTo>
                  <a:pt x="0" y="1722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208" t="-6435" r="0" b="-643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696433" y="1379437"/>
            <a:ext cx="5856320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◆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Smart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health emergency alert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96433" y="2600304"/>
            <a:ext cx="7701676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◆  Detects :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Falls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Abnormal heart rate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SOS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17815" y="1989870"/>
            <a:ext cx="6234129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◆  Uses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Arduino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health sensors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Wi-Fi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6433" y="3821171"/>
            <a:ext cx="6234129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◆  Shows practical use of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 i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healthcare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96433" y="3210737"/>
            <a:ext cx="7426511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8"/>
              </a:lnSpc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◆  Sends 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emerge</a:t>
            </a:r>
            <a:r>
              <a:rPr lang="en-US" sz="23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ncy alerts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kaoT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96433" y="5624319"/>
            <a:ext cx="8486981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device size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Arduino Nano R3, ESP8266-01   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96433" y="6234753"/>
            <a:ext cx="5102886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Ad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3D-printed wearable case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96433" y="6845186"/>
            <a:ext cx="7205232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Emergency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cancel button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follow-up alert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96433" y="7455620"/>
            <a:ext cx="7927833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he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alth features: 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counting, Exercise time 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35743" y="8030005"/>
            <a:ext cx="4326881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display or Blynk app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62623" y="8075578"/>
            <a:ext cx="8696728" cy="75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View health data, Past emergency alerts, Edit emergency contacts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35743" y="8868132"/>
            <a:ext cx="7205232" cy="3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03991" indent="-251995" lvl="1">
              <a:lnSpc>
                <a:spcPts val="32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Send 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SMS wi</a:t>
            </a:r>
            <a:r>
              <a:rPr lang="en-US" b="true" sz="23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 user location</a:t>
            </a:r>
            <a:r>
              <a:rPr lang="en-US" sz="23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faster rescue 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47"/>
            <a:ext cx="13716000" cy="99053"/>
            <a:chOff x="0" y="0"/>
            <a:chExt cx="13004800" cy="9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6000" cy="68580"/>
            <a:chOff x="0" y="0"/>
            <a:chExt cx="13004800" cy="65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612870" y="1574030"/>
            <a:ext cx="7446822" cy="1026880"/>
            <a:chOff x="0" y="0"/>
            <a:chExt cx="7060690" cy="973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0692" cy="973632"/>
            </a:xfrm>
            <a:custGeom>
              <a:avLst/>
              <a:gdLst/>
              <a:ahLst/>
              <a:cxnLst/>
              <a:rect r="r" b="b" t="t" l="l"/>
              <a:pathLst>
                <a:path h="973632" w="7060692">
                  <a:moveTo>
                    <a:pt x="0" y="0"/>
                  </a:moveTo>
                  <a:lnTo>
                    <a:pt x="7060692" y="0"/>
                  </a:lnTo>
                  <a:lnTo>
                    <a:pt x="7060692" y="973632"/>
                  </a:lnTo>
                  <a:lnTo>
                    <a:pt x="0" y="973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060690" cy="1002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75"/>
                </a:lnSpc>
              </a:pPr>
              <a:r>
                <a:rPr lang="en-US" sz="5062" b="true">
                  <a:solidFill>
                    <a:srgbClr val="20A1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07992" y="34290"/>
            <a:ext cx="13872015" cy="1539740"/>
            <a:chOff x="0" y="0"/>
            <a:chExt cx="18496021" cy="20529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658" y="0"/>
              <a:ext cx="18494362" cy="1477117"/>
              <a:chOff x="0" y="0"/>
              <a:chExt cx="13003634" cy="103858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3560" y="13589"/>
                <a:ext cx="12976605" cy="1011428"/>
              </a:xfrm>
              <a:custGeom>
                <a:avLst/>
                <a:gdLst/>
                <a:ahLst/>
                <a:cxnLst/>
                <a:rect r="r" b="b" t="t" l="l"/>
                <a:pathLst>
                  <a:path h="1011428" w="12976605">
                    <a:moveTo>
                      <a:pt x="0" y="0"/>
                    </a:moveTo>
                    <a:lnTo>
                      <a:pt x="12976604" y="0"/>
                    </a:lnTo>
                    <a:lnTo>
                      <a:pt x="12976604" y="1011428"/>
                    </a:lnTo>
                    <a:lnTo>
                      <a:pt x="0" y="1011428"/>
                    </a:lnTo>
                    <a:close/>
                  </a:path>
                </a:pathLst>
              </a:custGeom>
              <a:solidFill>
                <a:srgbClr val="004EA2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003723" cy="1038606"/>
              </a:xfrm>
              <a:custGeom>
                <a:avLst/>
                <a:gdLst/>
                <a:ahLst/>
                <a:cxnLst/>
                <a:rect r="r" b="b" t="t" l="l"/>
                <a:pathLst>
                  <a:path h="1038606" w="13003723">
                    <a:moveTo>
                      <a:pt x="13560" y="0"/>
                    </a:moveTo>
                    <a:lnTo>
                      <a:pt x="12990164" y="0"/>
                    </a:lnTo>
                    <a:cubicBezTo>
                      <a:pt x="12997641" y="0"/>
                      <a:pt x="13003723" y="6096"/>
                      <a:pt x="13003723" y="13589"/>
                    </a:cubicBezTo>
                    <a:lnTo>
                      <a:pt x="13003723" y="1025017"/>
                    </a:lnTo>
                    <a:cubicBezTo>
                      <a:pt x="13003723" y="1032510"/>
                      <a:pt x="12997641" y="1038606"/>
                      <a:pt x="12990164" y="1038606"/>
                    </a:cubicBezTo>
                    <a:lnTo>
                      <a:pt x="13560" y="1038606"/>
                    </a:lnTo>
                    <a:cubicBezTo>
                      <a:pt x="6083" y="1038606"/>
                      <a:pt x="0" y="1032510"/>
                      <a:pt x="0" y="1025017"/>
                    </a:cubicBezTo>
                    <a:lnTo>
                      <a:pt x="0" y="13589"/>
                    </a:lnTo>
                    <a:cubicBezTo>
                      <a:pt x="0" y="6096"/>
                      <a:pt x="6083" y="0"/>
                      <a:pt x="13560" y="0"/>
                    </a:cubicBezTo>
                    <a:moveTo>
                      <a:pt x="13560" y="27051"/>
                    </a:moveTo>
                    <a:lnTo>
                      <a:pt x="13560" y="13589"/>
                    </a:lnTo>
                    <a:lnTo>
                      <a:pt x="26992" y="13589"/>
                    </a:lnTo>
                    <a:lnTo>
                      <a:pt x="26992" y="1025017"/>
                    </a:lnTo>
                    <a:lnTo>
                      <a:pt x="13560" y="1025017"/>
                    </a:lnTo>
                    <a:lnTo>
                      <a:pt x="13560" y="1011428"/>
                    </a:lnTo>
                    <a:lnTo>
                      <a:pt x="12990164" y="1011428"/>
                    </a:lnTo>
                    <a:lnTo>
                      <a:pt x="12990164" y="1025017"/>
                    </a:lnTo>
                    <a:lnTo>
                      <a:pt x="12976604" y="1025017"/>
                    </a:lnTo>
                    <a:lnTo>
                      <a:pt x="12976604" y="13589"/>
                    </a:lnTo>
                    <a:lnTo>
                      <a:pt x="12990164" y="13589"/>
                    </a:lnTo>
                    <a:lnTo>
                      <a:pt x="12990164" y="27051"/>
                    </a:lnTo>
                    <a:lnTo>
                      <a:pt x="13560" y="27051"/>
                    </a:lnTo>
                    <a:close/>
                  </a:path>
                </a:pathLst>
              </a:custGeom>
              <a:solidFill>
                <a:srgbClr val="385D8A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239053"/>
              <a:ext cx="18494362" cy="813933"/>
              <a:chOff x="0" y="0"/>
              <a:chExt cx="13003634" cy="5722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3560" y="13589"/>
                <a:ext cx="12976605" cy="545211"/>
              </a:xfrm>
              <a:custGeom>
                <a:avLst/>
                <a:gdLst/>
                <a:ahLst/>
                <a:cxnLst/>
                <a:rect r="r" b="b" t="t" l="l"/>
                <a:pathLst>
                  <a:path h="545211" w="12976605">
                    <a:moveTo>
                      <a:pt x="0" y="0"/>
                    </a:moveTo>
                    <a:lnTo>
                      <a:pt x="12976604" y="0"/>
                    </a:lnTo>
                    <a:lnTo>
                      <a:pt x="12976604" y="545211"/>
                    </a:lnTo>
                    <a:lnTo>
                      <a:pt x="0" y="545211"/>
                    </a:lnTo>
                    <a:close/>
                  </a:path>
                </a:pathLst>
              </a:custGeom>
              <a:solidFill>
                <a:srgbClr val="20A15E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003723" cy="572389"/>
              </a:xfrm>
              <a:custGeom>
                <a:avLst/>
                <a:gdLst/>
                <a:ahLst/>
                <a:cxnLst/>
                <a:rect r="r" b="b" t="t" l="l"/>
                <a:pathLst>
                  <a:path h="572389" w="13003723">
                    <a:moveTo>
                      <a:pt x="13560" y="0"/>
                    </a:moveTo>
                    <a:lnTo>
                      <a:pt x="12990164" y="0"/>
                    </a:lnTo>
                    <a:cubicBezTo>
                      <a:pt x="12997641" y="0"/>
                      <a:pt x="13003723" y="6096"/>
                      <a:pt x="13003723" y="13589"/>
                    </a:cubicBezTo>
                    <a:lnTo>
                      <a:pt x="13003723" y="558800"/>
                    </a:lnTo>
                    <a:cubicBezTo>
                      <a:pt x="13003723" y="566293"/>
                      <a:pt x="12997641" y="572389"/>
                      <a:pt x="12990164" y="572389"/>
                    </a:cubicBezTo>
                    <a:lnTo>
                      <a:pt x="13560" y="572389"/>
                    </a:lnTo>
                    <a:cubicBezTo>
                      <a:pt x="6083" y="572262"/>
                      <a:pt x="0" y="566166"/>
                      <a:pt x="0" y="558800"/>
                    </a:cubicBezTo>
                    <a:lnTo>
                      <a:pt x="0" y="13589"/>
                    </a:lnTo>
                    <a:cubicBezTo>
                      <a:pt x="0" y="6096"/>
                      <a:pt x="6083" y="0"/>
                      <a:pt x="13560" y="0"/>
                    </a:cubicBezTo>
                    <a:moveTo>
                      <a:pt x="13560" y="27051"/>
                    </a:moveTo>
                    <a:lnTo>
                      <a:pt x="13560" y="13589"/>
                    </a:lnTo>
                    <a:lnTo>
                      <a:pt x="26992" y="13589"/>
                    </a:lnTo>
                    <a:lnTo>
                      <a:pt x="26992" y="558800"/>
                    </a:lnTo>
                    <a:lnTo>
                      <a:pt x="13560" y="558800"/>
                    </a:lnTo>
                    <a:lnTo>
                      <a:pt x="13560" y="545211"/>
                    </a:lnTo>
                    <a:lnTo>
                      <a:pt x="12990164" y="545211"/>
                    </a:lnTo>
                    <a:lnTo>
                      <a:pt x="12990164" y="558800"/>
                    </a:lnTo>
                    <a:lnTo>
                      <a:pt x="12976604" y="558800"/>
                    </a:lnTo>
                    <a:lnTo>
                      <a:pt x="12976604" y="13589"/>
                    </a:lnTo>
                    <a:lnTo>
                      <a:pt x="12990164" y="13589"/>
                    </a:lnTo>
                    <a:lnTo>
                      <a:pt x="12990164" y="27051"/>
                    </a:lnTo>
                    <a:lnTo>
                      <a:pt x="13560" y="27051"/>
                    </a:lnTo>
                    <a:close/>
                  </a:path>
                </a:pathLst>
              </a:custGeom>
              <a:solidFill>
                <a:srgbClr val="20A15E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Freeform 16" id="16" descr="기본형"/>
            <p:cNvSpPr/>
            <p:nvPr/>
          </p:nvSpPr>
          <p:spPr>
            <a:xfrm flipH="false" flipV="false" rot="0">
              <a:off x="238287" y="289958"/>
              <a:ext cx="2181151" cy="1545194"/>
            </a:xfrm>
            <a:custGeom>
              <a:avLst/>
              <a:gdLst/>
              <a:ahLst/>
              <a:cxnLst/>
              <a:rect r="r" b="b" t="t" l="l"/>
              <a:pathLst>
                <a:path h="1545194" w="2181151">
                  <a:moveTo>
                    <a:pt x="0" y="0"/>
                  </a:moveTo>
                  <a:lnTo>
                    <a:pt x="2181151" y="0"/>
                  </a:lnTo>
                  <a:lnTo>
                    <a:pt x="2181151" y="1545194"/>
                  </a:lnTo>
                  <a:lnTo>
                    <a:pt x="0" y="1545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3464" t="-55436" r="-64715" b="-5371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286000" y="9012202"/>
            <a:ext cx="13714768" cy="1175745"/>
            <a:chOff x="0" y="0"/>
            <a:chExt cx="13003632" cy="11147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03657" cy="1114806"/>
            </a:xfrm>
            <a:custGeom>
              <a:avLst/>
              <a:gdLst/>
              <a:ahLst/>
              <a:cxnLst/>
              <a:rect r="r" b="b" t="t" l="l"/>
              <a:pathLst>
                <a:path h="1114806" w="13003657">
                  <a:moveTo>
                    <a:pt x="13003657" y="0"/>
                  </a:moveTo>
                  <a:lnTo>
                    <a:pt x="10580370" y="0"/>
                  </a:lnTo>
                  <a:cubicBezTo>
                    <a:pt x="10192258" y="635"/>
                    <a:pt x="10086339" y="425831"/>
                    <a:pt x="9654159" y="435483"/>
                  </a:cubicBezTo>
                  <a:lnTo>
                    <a:pt x="0" y="435483"/>
                  </a:lnTo>
                  <a:lnTo>
                    <a:pt x="0" y="1114806"/>
                  </a:lnTo>
                  <a:lnTo>
                    <a:pt x="13003657" y="1114806"/>
                  </a:lnTo>
                  <a:lnTo>
                    <a:pt x="1300365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BEBEBE">
                    <a:alpha val="1000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C:\Users\Donggeon Lee\Desktop\IoT\pnu.png"/>
          <p:cNvSpPr/>
          <p:nvPr/>
        </p:nvSpPr>
        <p:spPr>
          <a:xfrm flipH="false" flipV="false" rot="0">
            <a:off x="13263341" y="9303319"/>
            <a:ext cx="2468250" cy="622993"/>
          </a:xfrm>
          <a:custGeom>
            <a:avLst/>
            <a:gdLst/>
            <a:ahLst/>
            <a:cxnLst/>
            <a:rect r="r" b="b" t="t" l="l"/>
            <a:pathLst>
              <a:path h="622993" w="2468250">
                <a:moveTo>
                  <a:pt x="0" y="0"/>
                </a:moveTo>
                <a:lnTo>
                  <a:pt x="2468250" y="0"/>
                </a:lnTo>
                <a:lnTo>
                  <a:pt x="2468250" y="622993"/>
                </a:lnTo>
                <a:lnTo>
                  <a:pt x="0" y="622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75" b="0"/>
            </a:stretch>
          </a:blipFill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6451834" y="3451265"/>
            <a:ext cx="5242714" cy="5414675"/>
            <a:chOff x="0" y="0"/>
            <a:chExt cx="6350000" cy="6558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l="-5122" t="-3342" r="0" b="-10295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546095" y="9714677"/>
            <a:ext cx="2786880" cy="3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334" spc="-151">
                <a:solidFill>
                  <a:srgbClr val="20A15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Adventure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95359" y="2777991"/>
            <a:ext cx="7881844" cy="4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sz="267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🚨Smart Emergency Alert System for Elderly Care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7561" y="8984827"/>
            <a:ext cx="5057440" cy="57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sz="337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“We care for senior safety”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DAG8GyPUqOo</dc:identifier>
  <dcterms:modified xsi:type="dcterms:W3CDTF">2011-08-01T06:04:30Z</dcterms:modified>
  <cp:revision>1</cp:revision>
  <dc:title>Expected Impact</dc:title>
</cp:coreProperties>
</file>